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73" r:id="rId4"/>
    <p:sldId id="259" r:id="rId5"/>
    <p:sldId id="260" r:id="rId6"/>
    <p:sldId id="262" r:id="rId7"/>
  </p:sldIdLst>
  <p:sldSz cx="18288000" cy="10287000"/>
  <p:notesSz cx="6858000" cy="9144000"/>
  <p:embeddedFontLst>
    <p:embeddedFont>
      <p:font typeface="Malgun Gothic" panose="020B0503020000020004" pitchFamily="50" charset="-127"/>
      <p:regular r:id="rId9"/>
      <p:bold r:id="rId10"/>
    </p:embeddedFont>
    <p:embeddedFont>
      <p:font typeface="Malgun Gothic" panose="020B0503020000020004" pitchFamily="50" charset="-127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eologica SemiBold" panose="020B0600000101010101" charset="0"/>
      <p:regular r:id="rId15"/>
      <p:bold r:id="rId16"/>
    </p:embeddedFont>
    <p:embeddedFont>
      <p:font typeface="Noto Sans KR" panose="020B0200000000000000" pitchFamily="50" charset="-12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tslSfUOfAPwW/uv8AufnrhZxL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3A068D-EED9-4DE4-9B39-F8845E1A7B1C}">
  <a:tblStyle styleId="{623A068D-EED9-4DE4-9B39-F8845E1A7B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8" y="88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001  분반 보강 날짜 확인 (3/12)</a:t>
            </a:r>
            <a:endParaRPr sz="1200"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b87697e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ab87697e3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ab87697e3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800"/>
              <a:t>These four steps can be broadly referred to as the compilation process, but strictly speaking, only the compile stage is sometimes referred to as compile.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800"/>
              <a:t>We will call the process of building an executable file from a source file in a broad sense the compile process.</a:t>
            </a:r>
            <a:endParaRPr sz="1800"/>
          </a:p>
        </p:txBody>
      </p:sp>
      <p:sp>
        <p:nvSpPr>
          <p:cNvPr id="280" name="Google Shape;28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8f5571c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4a8f5571ca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34a8f5571ca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4935200" y="4406900"/>
            <a:ext cx="5816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463800" y="4406900"/>
            <a:ext cx="5816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300" y="38989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80000" y="38989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7900" y="4775200"/>
            <a:ext cx="31496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3500" y="4775200"/>
            <a:ext cx="280670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 txBox="1"/>
          <p:nvPr/>
        </p:nvSpPr>
        <p:spPr>
          <a:xfrm>
            <a:off x="16374918" y="469900"/>
            <a:ext cx="15621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 rot="-5400000">
            <a:off x="-838200" y="8432800"/>
            <a:ext cx="25527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miricanvas.com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3079172" y="2422263"/>
            <a:ext cx="12659591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0"/>
              <a:buFont typeface="Arial"/>
              <a:buNone/>
            </a:pPr>
            <a:r>
              <a:rPr lang="ko-KR" sz="10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Ｃ Programming (W14)</a:t>
            </a:r>
            <a:endParaRPr sz="10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6388100" y="5867400"/>
            <a:ext cx="28829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1930400" y="6896100"/>
            <a:ext cx="1444451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ko-KR" sz="7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Welcome!!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ko-KR" sz="7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Please check attendance individually.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ko-KR" sz="7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(Mobile App)</a:t>
            </a:r>
            <a:endParaRPr sz="7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b87697e3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775200" y="5194300"/>
            <a:ext cx="1043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ab87697e3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8001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ab87697e3a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2800" y="9448800"/>
            <a:ext cx="14478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ab87697e3a_0_0"/>
          <p:cNvSpPr txBox="1"/>
          <p:nvPr/>
        </p:nvSpPr>
        <p:spPr>
          <a:xfrm>
            <a:off x="927100" y="863600"/>
            <a:ext cx="46608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endParaRPr sz="4600" b="0" i="0" u="none" strike="noStrike" cap="non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92" name="Google Shape;92;g3ab87697e3a_0_0"/>
          <p:cNvSpPr txBox="1"/>
          <p:nvPr/>
        </p:nvSpPr>
        <p:spPr>
          <a:xfrm>
            <a:off x="857250" y="939800"/>
            <a:ext cx="79821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Things to do today</a:t>
            </a:r>
            <a:endParaRPr sz="42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g3ab87697e3a_0_0"/>
          <p:cNvGrpSpPr/>
          <p:nvPr/>
        </p:nvGrpSpPr>
        <p:grpSpPr>
          <a:xfrm>
            <a:off x="601045" y="5082073"/>
            <a:ext cx="16591657" cy="1244600"/>
            <a:chOff x="8534400" y="4908550"/>
            <a:chExt cx="10263304" cy="1244600"/>
          </a:xfrm>
        </p:grpSpPr>
        <p:pic>
          <p:nvPicPr>
            <p:cNvPr id="94" name="Google Shape;94;g3ab87697e3a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-5400000">
              <a:off x="9296400" y="5524500"/>
              <a:ext cx="1244600" cy="1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g3ab87697e3a_0_0"/>
            <p:cNvSpPr txBox="1"/>
            <p:nvPr/>
          </p:nvSpPr>
          <p:spPr>
            <a:xfrm>
              <a:off x="10172704" y="5283200"/>
              <a:ext cx="86250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87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b87697e3a_0_0"/>
            <p:cNvSpPr txBox="1"/>
            <p:nvPr/>
          </p:nvSpPr>
          <p:spPr>
            <a:xfrm>
              <a:off x="8534400" y="5003800"/>
              <a:ext cx="1206600" cy="8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600"/>
                <a:buFont typeface="Arial"/>
                <a:buNone/>
              </a:pPr>
              <a:r>
                <a:rPr lang="ko-KR" sz="4600" b="0" i="0" u="none" strike="noStrike" cap="none">
                  <a:solidFill>
                    <a:srgbClr val="000000"/>
                  </a:solidFill>
                  <a:latin typeface="Geologica SemiBold"/>
                  <a:ea typeface="Geologica SemiBold"/>
                  <a:cs typeface="Geologica SemiBold"/>
                  <a:sym typeface="Geologica SemiBold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g3ab87697e3a_0_0"/>
          <p:cNvSpPr txBox="1"/>
          <p:nvPr/>
        </p:nvSpPr>
        <p:spPr>
          <a:xfrm>
            <a:off x="16374918" y="469900"/>
            <a:ext cx="1562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g3ab87697e3a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g3ab87697e3a_0_0"/>
          <p:cNvGrpSpPr/>
          <p:nvPr/>
        </p:nvGrpSpPr>
        <p:grpSpPr>
          <a:xfrm>
            <a:off x="599335" y="3471699"/>
            <a:ext cx="17130451" cy="1244600"/>
            <a:chOff x="8534400" y="3028950"/>
            <a:chExt cx="10596592" cy="1244600"/>
          </a:xfrm>
        </p:grpSpPr>
        <p:pic>
          <p:nvPicPr>
            <p:cNvPr id="100" name="Google Shape;100;g3ab87697e3a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-5400000">
              <a:off x="9296400" y="3644900"/>
              <a:ext cx="1244600" cy="1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g3ab87697e3a_0_0"/>
            <p:cNvSpPr txBox="1"/>
            <p:nvPr/>
          </p:nvSpPr>
          <p:spPr>
            <a:xfrm>
              <a:off x="10172692" y="3396127"/>
              <a:ext cx="89583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87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b87697e3a_0_0"/>
            <p:cNvSpPr txBox="1"/>
            <p:nvPr/>
          </p:nvSpPr>
          <p:spPr>
            <a:xfrm>
              <a:off x="8534400" y="3124200"/>
              <a:ext cx="1206600" cy="8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600"/>
                <a:buFont typeface="Arial"/>
                <a:buNone/>
              </a:pPr>
              <a:r>
                <a:rPr lang="ko-KR" sz="4600" b="0" i="0" u="none" strike="noStrike" cap="none">
                  <a:solidFill>
                    <a:srgbClr val="000000"/>
                  </a:solidFill>
                  <a:latin typeface="Geologica SemiBold"/>
                  <a:ea typeface="Geologica SemiBold"/>
                  <a:cs typeface="Geologica SemiBold"/>
                  <a:sym typeface="Geologica SemiBold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g3ab87697e3a_0_0"/>
          <p:cNvGrpSpPr/>
          <p:nvPr/>
        </p:nvGrpSpPr>
        <p:grpSpPr>
          <a:xfrm>
            <a:off x="248988" y="1963673"/>
            <a:ext cx="17864261" cy="1507957"/>
            <a:chOff x="8346486" y="3028950"/>
            <a:chExt cx="9544914" cy="1244600"/>
          </a:xfrm>
        </p:grpSpPr>
        <p:pic>
          <p:nvPicPr>
            <p:cNvPr id="104" name="Google Shape;104;g3ab87697e3a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-5400000">
              <a:off x="9108496" y="3644900"/>
              <a:ext cx="1244600" cy="1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g3ab87697e3a_0_0"/>
            <p:cNvSpPr txBox="1"/>
            <p:nvPr/>
          </p:nvSpPr>
          <p:spPr>
            <a:xfrm>
              <a:off x="8346486" y="3124200"/>
              <a:ext cx="1206600" cy="8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600"/>
                <a:buFont typeface="Arial"/>
                <a:buNone/>
              </a:pPr>
              <a:r>
                <a:rPr lang="ko-KR" sz="4600" b="0" i="0" u="none" strike="noStrike" cap="none">
                  <a:solidFill>
                    <a:srgbClr val="000000"/>
                  </a:solidFill>
                  <a:latin typeface="Geologica SemiBold"/>
                  <a:ea typeface="Geologica SemiBold"/>
                  <a:cs typeface="Geologica SemiBold"/>
                  <a:sym typeface="Geologica SemiBold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b87697e3a_0_0"/>
            <p:cNvSpPr txBox="1"/>
            <p:nvPr/>
          </p:nvSpPr>
          <p:spPr>
            <a:xfrm>
              <a:off x="10172700" y="3405559"/>
              <a:ext cx="7718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87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ko-KR" sz="36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Lecture</a:t>
              </a:r>
              <a:r>
                <a:rPr lang="ko-KR" sz="3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Notes</a:t>
              </a:r>
              <a:r>
                <a:rPr lang="ko-KR" sz="3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(Ch.1</a:t>
              </a:r>
              <a:r>
                <a:rPr lang="ko-KR" sz="3600" dirty="0"/>
                <a:t>6, CH.17</a:t>
              </a:r>
              <a:r>
                <a:rPr lang="ko-KR" sz="3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775200" y="5194300"/>
            <a:ext cx="1043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113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2800" y="9448800"/>
            <a:ext cx="14478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/>
        </p:nvSpPr>
        <p:spPr>
          <a:xfrm>
            <a:off x="16374918" y="469900"/>
            <a:ext cx="1562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/>
          <p:nvPr/>
        </p:nvSpPr>
        <p:spPr>
          <a:xfrm>
            <a:off x="762000" y="472512"/>
            <a:ext cx="126492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ko-KR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Compile/Build Process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1233984" y="1346547"/>
            <a:ext cx="1478054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ko-K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ko-K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 Process</a:t>
            </a:r>
            <a:r>
              <a:rPr lang="ko-K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sequence of steps that a compiler follows to convert </a:t>
            </a:r>
            <a:r>
              <a:rPr lang="ko-K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code (written in a high-level language like C, C++, or Java)</a:t>
            </a:r>
            <a:r>
              <a:rPr lang="ko-K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ko-K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code (binary instructions that a computer can execute)</a:t>
            </a:r>
            <a:r>
              <a:rPr lang="ko-K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Source code : https://github.com/lattera/glibc/tree/master/stdio-common</a:t>
            </a:r>
            <a:endParaRPr sz="2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4873" y="3719553"/>
            <a:ext cx="9861549" cy="5671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3379" y="3719553"/>
            <a:ext cx="6173983" cy="598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775200" y="5194300"/>
            <a:ext cx="1043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8001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2800" y="9448800"/>
            <a:ext cx="14478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927100" y="863600"/>
            <a:ext cx="46608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endParaRPr sz="4600" b="0" i="0" u="none" strike="noStrike" cap="non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57250" y="939800"/>
            <a:ext cx="79821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Schedule of final exam</a:t>
            </a:r>
            <a:endParaRPr sz="42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6374918" y="469900"/>
            <a:ext cx="1562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6"/>
          <p:cNvGraphicFramePr/>
          <p:nvPr>
            <p:extLst>
              <p:ext uri="{D42A27DB-BD31-4B8C-83A1-F6EECF244321}">
                <p14:modId xmlns:p14="http://schemas.microsoft.com/office/powerpoint/2010/main" val="928778747"/>
              </p:ext>
            </p:extLst>
          </p:nvPr>
        </p:nvGraphicFramePr>
        <p:xfrm>
          <a:off x="1449750" y="1880984"/>
          <a:ext cx="7956700" cy="3823780"/>
        </p:xfrm>
        <a:graphic>
          <a:graphicData uri="http://schemas.openxmlformats.org/drawingml/2006/table">
            <a:tbl>
              <a:tblPr>
                <a:noFill/>
                <a:tableStyleId>{623A068D-EED9-4DE4-9B39-F8845E1A7B1C}</a:tableStyleId>
              </a:tblPr>
              <a:tblGrid>
                <a:gridCol w="1978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2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C-001(</a:t>
                      </a:r>
                      <a:r>
                        <a:rPr lang="ko-KR" sz="25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Mon</a:t>
                      </a:r>
                      <a:r>
                        <a:rPr lang="ko-KR" sz="25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25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C-002(Tue)</a:t>
                      </a:r>
                      <a:endParaRPr sz="2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C-003(Wed)</a:t>
                      </a:r>
                      <a:endParaRPr sz="2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234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Final exam</a:t>
                      </a:r>
                      <a:endParaRPr sz="2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i="0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</a:t>
                      </a:r>
                      <a:r>
                        <a:rPr lang="en-US" altLang="ko-KR" sz="2500" b="1" i="0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dirty="0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711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2025-12-15</a:t>
                      </a: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(no</a:t>
                      </a:r>
                      <a:r>
                        <a:rPr lang="ko-KR" altLang="en-US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class)</a:t>
                      </a:r>
                      <a:endParaRPr lang="ko-KR" altLang="en-US" sz="2500" b="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altLang="ko-KR" sz="25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2025-12-16</a:t>
                      </a:r>
                      <a:endParaRPr lang="ko-KR" altLang="en-US" sz="25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(no</a:t>
                      </a:r>
                      <a:r>
                        <a:rPr lang="ko-KR" altLang="en-US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25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class)</a:t>
                      </a:r>
                      <a:endParaRPr lang="ko-KR" altLang="en-US" sz="2500" b="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60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Room</a:t>
                      </a:r>
                      <a:endParaRPr sz="2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W16 501-1</a:t>
                      </a:r>
                      <a:endParaRPr sz="25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endParaRPr sz="25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" name="Google Shape;144;p6"/>
          <p:cNvSpPr txBox="1"/>
          <p:nvPr/>
        </p:nvSpPr>
        <p:spPr>
          <a:xfrm>
            <a:off x="845820" y="6334760"/>
            <a:ext cx="79821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Course evaluation</a:t>
            </a:r>
            <a:endParaRPr sz="42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45820" y="7535300"/>
            <a:ext cx="6001964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Attendance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20%</a:t>
            </a:r>
            <a:b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Practices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20%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Mini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-Project: 20%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Final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exam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40% (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Open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sz="3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book</a:t>
            </a:r>
            <a:r>
              <a:rPr lang="ko-KR" sz="3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20BD2-6195-412E-9E5C-059F84259FFC}"/>
              </a:ext>
            </a:extLst>
          </p:cNvPr>
          <p:cNvSpPr txBox="1"/>
          <p:nvPr/>
        </p:nvSpPr>
        <p:spPr>
          <a:xfrm>
            <a:off x="9129019" y="7276303"/>
            <a:ext cx="9222396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W16: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Student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Union</a:t>
            </a:r>
          </a:p>
          <a:p>
            <a:r>
              <a:rPr lang="en-US" altLang="ko-KR" sz="2800" dirty="0"/>
              <a:t>From the 3rd floor, turn right and take either the elevator </a:t>
            </a:r>
          </a:p>
          <a:p>
            <a:r>
              <a:rPr lang="en-US" altLang="ko-KR" sz="2800" dirty="0"/>
              <a:t>or the stairs up to the 5th floor.</a:t>
            </a:r>
            <a:br>
              <a:rPr lang="en-US" altLang="ko-KR" sz="2800" dirty="0"/>
            </a:br>
            <a:r>
              <a:rPr lang="en-US" altLang="ko-KR" sz="2800" dirty="0"/>
              <a:t>When you reach the 5th floor, </a:t>
            </a:r>
          </a:p>
          <a:p>
            <a:r>
              <a:rPr lang="en-US" altLang="ko-KR" sz="2800" dirty="0"/>
              <a:t>you will see two large halls in front of you.</a:t>
            </a:r>
            <a:br>
              <a:rPr lang="en-US" altLang="ko-KR" sz="2800" dirty="0"/>
            </a:br>
            <a:r>
              <a:rPr lang="en-US" altLang="ko-KR" sz="2800" dirty="0"/>
              <a:t>The room is the one on the left.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0E3AEE-1442-4C99-AE35-2C31F522B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418" y="1434506"/>
            <a:ext cx="6627832" cy="5760232"/>
          </a:xfrm>
          <a:prstGeom prst="rect">
            <a:avLst/>
          </a:prstGeom>
        </p:spPr>
      </p:pic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7CD39F12-B5EC-4611-AFF1-D58AD3BA79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47420" y="3257550"/>
            <a:ext cx="2727498" cy="1577440"/>
          </a:xfrm>
          <a:prstGeom prst="curvedConnector3">
            <a:avLst>
              <a:gd name="adj1" fmla="val 5502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789DA68-CC13-48F0-A1C6-D74767CD18E5}"/>
              </a:ext>
            </a:extLst>
          </p:cNvPr>
          <p:cNvSpPr/>
          <p:nvPr/>
        </p:nvSpPr>
        <p:spPr>
          <a:xfrm>
            <a:off x="12733020" y="4354930"/>
            <a:ext cx="914400" cy="914400"/>
          </a:xfrm>
          <a:prstGeom prst="roundRect">
            <a:avLst>
              <a:gd name="adj" fmla="val 2041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4a8f5571ca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775200" y="5194300"/>
            <a:ext cx="1043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4a8f5571ca_0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8001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4a8f5571ca_0_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2800" y="9448800"/>
            <a:ext cx="14478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a8f5571ca_0_75"/>
          <p:cNvSpPr txBox="1"/>
          <p:nvPr/>
        </p:nvSpPr>
        <p:spPr>
          <a:xfrm>
            <a:off x="927100" y="863600"/>
            <a:ext cx="46608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endParaRPr sz="4600" b="0" i="0" u="none" strike="noStrike" cap="non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155" name="Google Shape;155;g34a8f5571ca_0_75"/>
          <p:cNvSpPr txBox="1"/>
          <p:nvPr/>
        </p:nvSpPr>
        <p:spPr>
          <a:xfrm>
            <a:off x="857250" y="939800"/>
            <a:ext cx="79821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Cheating Policy</a:t>
            </a:r>
            <a:endParaRPr sz="42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4a8f5571ca_0_75"/>
          <p:cNvSpPr txBox="1"/>
          <p:nvPr/>
        </p:nvSpPr>
        <p:spPr>
          <a:xfrm>
            <a:off x="16374918" y="469900"/>
            <a:ext cx="1562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4a8f5571ca_0_7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4a8f5571ca_0_75"/>
          <p:cNvSpPr/>
          <p:nvPr/>
        </p:nvSpPr>
        <p:spPr>
          <a:xfrm>
            <a:off x="1509823" y="2371210"/>
            <a:ext cx="15349278" cy="674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computer, no phone, no extra material allowed.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Only A4 2 pages written by yourself are allowed</a:t>
            </a:r>
            <a:r>
              <a:rPr lang="ko-KR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A4 2 pages must be submitted together with the exam answer sheet after the final exam. (Expect 90 Mins)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look at other people's answer sheets or discuss together during the exam, it will be considered cheating and you will receive </a:t>
            </a:r>
            <a:r>
              <a:rPr lang="ko-KR" sz="4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point for the final exam.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4935200" y="4406900"/>
            <a:ext cx="5816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463800" y="4406900"/>
            <a:ext cx="5816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300" y="38989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80000" y="3898900"/>
            <a:ext cx="1397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7900" y="5880100"/>
            <a:ext cx="31496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3500" y="5880100"/>
            <a:ext cx="280670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16374918" y="469900"/>
            <a:ext cx="15621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sz="1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ＡＩ ＆ Ｂｉｇ Ｄａｔａ</a:t>
            </a:r>
            <a:endParaRPr sz="19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 rot="-5400000">
            <a:off x="-838200" y="8432800"/>
            <a:ext cx="255270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miricanvas.com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2035463" y="3238500"/>
            <a:ext cx="1440634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0"/>
              <a:buFont typeface="Arial"/>
              <a:buNone/>
            </a:pPr>
            <a:r>
              <a:rPr lang="ko-KR" sz="10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 you next week!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0"/>
              <a:buFont typeface="Arial"/>
              <a:buNone/>
            </a:pPr>
            <a:r>
              <a:rPr lang="ko-KR" sz="10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miss a final exam</a:t>
            </a:r>
            <a:endParaRPr sz="10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6388100" y="5867400"/>
            <a:ext cx="28829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20798" y="424873"/>
            <a:ext cx="1086002" cy="457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395</Words>
  <Application>Microsoft Office PowerPoint</Application>
  <PresentationFormat>사용자 지정</PresentationFormat>
  <Paragraphs>59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Malgun Gothic</vt:lpstr>
      <vt:lpstr>Malgun Gothic</vt:lpstr>
      <vt:lpstr>Noto Sans KR</vt:lpstr>
      <vt:lpstr>Geologica SemiBold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</cp:revision>
  <dcterms:created xsi:type="dcterms:W3CDTF">2006-08-16T00:00:00Z</dcterms:created>
  <dcterms:modified xsi:type="dcterms:W3CDTF">2025-12-04T03:56:07Z</dcterms:modified>
</cp:coreProperties>
</file>